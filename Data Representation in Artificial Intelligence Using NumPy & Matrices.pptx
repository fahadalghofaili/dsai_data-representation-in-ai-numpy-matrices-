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a Hamah Homs" charset="1" panose="00000500000000000000"/>
      <p:regular r:id="rId18"/>
    </p:embeddedFont>
    <p:embeddedFont>
      <p:font typeface="Canva Sans Bold" charset="1" panose="020B0803030501040103"/>
      <p:regular r:id="rId19"/>
    </p:embeddedFont>
    <p:embeddedFont>
      <p:font typeface="Garet Bold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44" t="0" r="-34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1499" y="841997"/>
            <a:ext cx="12107193" cy="3495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DATA REPRESENTATION IN ARTIFICIAL INTELLIGENCE</a:t>
            </a:r>
          </a:p>
          <a:p>
            <a:pPr algn="l">
              <a:lnSpc>
                <a:spcPts val="9000"/>
              </a:lnSpc>
            </a:pPr>
            <a:r>
              <a:rPr lang="en-US" sz="9000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USING NUMPY &amp; MATRICES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87126" y="5070264"/>
            <a:ext cx="7230900" cy="705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1"/>
              </a:lnSpc>
              <a:spcBef>
                <a:spcPct val="0"/>
              </a:spcBef>
            </a:pPr>
            <a:r>
              <a:rPr lang="en-US" sz="5271">
                <a:solidFill>
                  <a:srgbClr val="49C3FB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L</a:t>
            </a:r>
            <a:r>
              <a:rPr lang="en-US" sz="5271">
                <a:solidFill>
                  <a:srgbClr val="49C3FB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inear Algebra &amp; Statistics in AI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361268" y="32632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4" y="0"/>
                </a:lnTo>
                <a:lnTo>
                  <a:pt x="1796064" y="1627683"/>
                </a:lnTo>
                <a:lnTo>
                  <a:pt x="0" y="16276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2681" y="6825434"/>
            <a:ext cx="2850901" cy="3241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3575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Te</a:t>
            </a:r>
            <a:r>
              <a:rPr lang="en-US" sz="3575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am Members</a:t>
            </a:r>
          </a:p>
          <a:p>
            <a:pPr algn="l">
              <a:lnSpc>
                <a:spcPts val="4150"/>
              </a:lnSpc>
            </a:pPr>
            <a:r>
              <a:rPr lang="en-US" sz="2964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Mohammed Alburaq</a:t>
            </a:r>
          </a:p>
          <a:p>
            <a:pPr algn="l">
              <a:lnSpc>
                <a:spcPts val="4150"/>
              </a:lnSpc>
            </a:pPr>
            <a:r>
              <a:rPr lang="en-US" sz="2964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Ahmed Alshimshir </a:t>
            </a:r>
          </a:p>
          <a:p>
            <a:pPr algn="l">
              <a:lnSpc>
                <a:spcPts val="4150"/>
              </a:lnSpc>
            </a:pPr>
            <a:r>
              <a:rPr lang="en-US" sz="2964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Fahad Alghofaili </a:t>
            </a:r>
          </a:p>
          <a:p>
            <a:pPr algn="l">
              <a:lnSpc>
                <a:spcPts val="4150"/>
              </a:lnSpc>
            </a:pPr>
            <a:r>
              <a:rPr lang="en-US" sz="2964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Mansour Alhenaki </a:t>
            </a:r>
          </a:p>
          <a:p>
            <a:pPr algn="l">
              <a:lnSpc>
                <a:spcPts val="415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168096" y="8734425"/>
            <a:ext cx="286896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Tuwaiq Academy - 2026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-167148"/>
            <a:ext cx="5403240" cy="3295976"/>
          </a:xfrm>
          <a:custGeom>
            <a:avLst/>
            <a:gdLst/>
            <a:ahLst/>
            <a:cxnLst/>
            <a:rect r="r" b="b" t="t" l="l"/>
            <a:pathLst>
              <a:path h="3295976" w="5403240">
                <a:moveTo>
                  <a:pt x="0" y="3295976"/>
                </a:moveTo>
                <a:lnTo>
                  <a:pt x="5403240" y="3295976"/>
                </a:lnTo>
                <a:lnTo>
                  <a:pt x="5403240" y="0"/>
                </a:lnTo>
                <a:lnTo>
                  <a:pt x="0" y="0"/>
                </a:lnTo>
                <a:lnTo>
                  <a:pt x="0" y="32959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44678" y="465681"/>
            <a:ext cx="8563868" cy="1860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14000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INTRODUCTION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491935" y="0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5" y="0"/>
                </a:lnTo>
                <a:lnTo>
                  <a:pt x="1796065" y="1627683"/>
                </a:lnTo>
                <a:lnTo>
                  <a:pt x="0" y="16276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2398434"/>
            <a:ext cx="18288000" cy="3594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Artificial Intelligence relies on mathematical data representation</a:t>
            </a:r>
          </a:p>
          <a:p>
            <a:pPr algn="ctr">
              <a:lnSpc>
                <a:spcPts val="7279"/>
              </a:lnSpc>
            </a:pPr>
          </a:p>
          <a:p>
            <a:pPr algn="ctr">
              <a:lnSpc>
                <a:spcPts val="72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047102" y="4352964"/>
            <a:ext cx="9144000" cy="264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4"/>
              </a:lnSpc>
            </a:pPr>
            <a:r>
              <a:rPr lang="en-US" sz="3774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In</a:t>
            </a:r>
            <a:r>
              <a:rPr lang="en-US" sz="3774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Machine Learning, datasets are represented as matrices.</a:t>
            </a:r>
          </a:p>
          <a:p>
            <a:pPr algn="l" marL="815022" indent="-407511" lvl="1">
              <a:lnSpc>
                <a:spcPts val="5284"/>
              </a:lnSpc>
              <a:buFont typeface="Arial"/>
              <a:buChar char="•"/>
            </a:pPr>
            <a:r>
              <a:rPr lang="en-US" sz="3774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Rows = Samples</a:t>
            </a:r>
          </a:p>
          <a:p>
            <a:pPr algn="l" marL="815022" indent="-407511" lvl="1">
              <a:lnSpc>
                <a:spcPts val="5284"/>
              </a:lnSpc>
              <a:buFont typeface="Arial"/>
              <a:buChar char="•"/>
            </a:pPr>
            <a:r>
              <a:rPr lang="en-US" sz="3774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Columns = Features</a:t>
            </a:r>
          </a:p>
          <a:p>
            <a:pPr algn="l">
              <a:lnSpc>
                <a:spcPts val="528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74587" y="6793269"/>
            <a:ext cx="18288000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Libraries such as NumPy an</a:t>
            </a:r>
            <a:r>
              <a:rPr lang="en-US" sz="39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d Pandas help convert raw data into numerical structures.</a:t>
            </a:r>
          </a:p>
          <a:p>
            <a:pPr algn="ctr">
              <a:lnSpc>
                <a:spcPts val="559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370126" y="-841764"/>
            <a:ext cx="6132670" cy="3740929"/>
          </a:xfrm>
          <a:custGeom>
            <a:avLst/>
            <a:gdLst/>
            <a:ahLst/>
            <a:cxnLst/>
            <a:rect r="r" b="b" t="t" l="l"/>
            <a:pathLst>
              <a:path h="3740929" w="6132670">
                <a:moveTo>
                  <a:pt x="6132670" y="3740928"/>
                </a:moveTo>
                <a:lnTo>
                  <a:pt x="0" y="3740928"/>
                </a:lnTo>
                <a:lnTo>
                  <a:pt x="0" y="0"/>
                </a:lnTo>
                <a:lnTo>
                  <a:pt x="6132670" y="0"/>
                </a:lnTo>
                <a:lnTo>
                  <a:pt x="6132670" y="37409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613622" y="8636120"/>
            <a:ext cx="1645678" cy="647986"/>
          </a:xfrm>
          <a:custGeom>
            <a:avLst/>
            <a:gdLst/>
            <a:ahLst/>
            <a:cxnLst/>
            <a:rect r="r" b="b" t="t" l="l"/>
            <a:pathLst>
              <a:path h="647986" w="1645678">
                <a:moveTo>
                  <a:pt x="0" y="0"/>
                </a:moveTo>
                <a:lnTo>
                  <a:pt x="1645678" y="0"/>
                </a:lnTo>
                <a:lnTo>
                  <a:pt x="1645678" y="647986"/>
                </a:lnTo>
                <a:lnTo>
                  <a:pt x="0" y="6479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46379" y="950531"/>
            <a:ext cx="12841687" cy="259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DATA REPRESENTATION IN AI</a:t>
            </a:r>
          </a:p>
          <a:p>
            <a:pPr algn="ctr">
              <a:lnSpc>
                <a:spcPts val="999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424351" y="3003800"/>
            <a:ext cx="13439297" cy="281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AI models cannot understand raw text or images directly</a:t>
            </a:r>
          </a:p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 Data must be converted into numerical form</a:t>
            </a:r>
          </a:p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Scalars, vectors, matrices, and tensors represent data in AI</a:t>
            </a:r>
          </a:p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 Proper data shape is essential for model training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144602" y="21485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5" y="0"/>
                </a:lnTo>
                <a:lnTo>
                  <a:pt x="1796065" y="1627684"/>
                </a:lnTo>
                <a:lnTo>
                  <a:pt x="0" y="1627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-2037635" y="7561859"/>
            <a:ext cx="6132670" cy="3740929"/>
          </a:xfrm>
          <a:custGeom>
            <a:avLst/>
            <a:gdLst/>
            <a:ahLst/>
            <a:cxnLst/>
            <a:rect r="r" b="b" t="t" l="l"/>
            <a:pathLst>
              <a:path h="3740929" w="6132670">
                <a:moveTo>
                  <a:pt x="6132670" y="3740928"/>
                </a:moveTo>
                <a:lnTo>
                  <a:pt x="0" y="3740928"/>
                </a:lnTo>
                <a:lnTo>
                  <a:pt x="0" y="0"/>
                </a:lnTo>
                <a:lnTo>
                  <a:pt x="6132670" y="0"/>
                </a:lnTo>
                <a:lnTo>
                  <a:pt x="6132670" y="37409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2499438" y="7896268"/>
            <a:ext cx="6132670" cy="3740929"/>
          </a:xfrm>
          <a:custGeom>
            <a:avLst/>
            <a:gdLst/>
            <a:ahLst/>
            <a:cxnLst/>
            <a:rect r="r" b="b" t="t" l="l"/>
            <a:pathLst>
              <a:path h="3740929" w="6132670">
                <a:moveTo>
                  <a:pt x="6132670" y="3740929"/>
                </a:moveTo>
                <a:lnTo>
                  <a:pt x="0" y="3740929"/>
                </a:lnTo>
                <a:lnTo>
                  <a:pt x="0" y="0"/>
                </a:lnTo>
                <a:lnTo>
                  <a:pt x="6132670" y="0"/>
                </a:lnTo>
                <a:lnTo>
                  <a:pt x="6132670" y="37409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505663" y="-425270"/>
            <a:ext cx="6132670" cy="3740929"/>
          </a:xfrm>
          <a:custGeom>
            <a:avLst/>
            <a:gdLst/>
            <a:ahLst/>
            <a:cxnLst/>
            <a:rect r="r" b="b" t="t" l="l"/>
            <a:pathLst>
              <a:path h="3740929" w="6132670">
                <a:moveTo>
                  <a:pt x="6132670" y="3740929"/>
                </a:moveTo>
                <a:lnTo>
                  <a:pt x="0" y="3740929"/>
                </a:lnTo>
                <a:lnTo>
                  <a:pt x="0" y="0"/>
                </a:lnTo>
                <a:lnTo>
                  <a:pt x="6132670" y="0"/>
                </a:lnTo>
                <a:lnTo>
                  <a:pt x="6132670" y="37409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44602" y="21485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5" y="0"/>
                </a:lnTo>
                <a:lnTo>
                  <a:pt x="1796065" y="1627684"/>
                </a:lnTo>
                <a:lnTo>
                  <a:pt x="0" y="1627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68410" y="8795363"/>
            <a:ext cx="1645678" cy="647986"/>
          </a:xfrm>
          <a:custGeom>
            <a:avLst/>
            <a:gdLst/>
            <a:ahLst/>
            <a:cxnLst/>
            <a:rect r="r" b="b" t="t" l="l"/>
            <a:pathLst>
              <a:path h="647986" w="1645678">
                <a:moveTo>
                  <a:pt x="0" y="0"/>
                </a:moveTo>
                <a:lnTo>
                  <a:pt x="1645678" y="0"/>
                </a:lnTo>
                <a:lnTo>
                  <a:pt x="1645678" y="647985"/>
                </a:lnTo>
                <a:lnTo>
                  <a:pt x="0" y="6479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46379" y="950531"/>
            <a:ext cx="12841687" cy="259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DATA SET</a:t>
            </a:r>
          </a:p>
          <a:p>
            <a:pPr algn="ctr">
              <a:lnSpc>
                <a:spcPts val="99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705305" y="2817430"/>
            <a:ext cx="13439297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Students' Academic Performance Dataset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05305" y="3652455"/>
            <a:ext cx="13439297" cy="351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Real world data set from kaggle</a:t>
            </a:r>
          </a:p>
          <a:p>
            <a:pPr algn="l" marL="1187449" indent="-593725" lvl="1">
              <a:lnSpc>
                <a:spcPts val="5499"/>
              </a:lnSpc>
              <a:buFont typeface="Arial"/>
              <a:buChar char="•"/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Number of Instances: 480</a:t>
            </a:r>
          </a:p>
          <a:p>
            <a:pPr algn="l" marL="1187449" indent="-593725" lvl="1">
              <a:lnSpc>
                <a:spcPts val="5499"/>
              </a:lnSpc>
              <a:buFont typeface="Arial"/>
              <a:buChar char="•"/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 Number of Attributes: 16 </a:t>
            </a:r>
          </a:p>
          <a:p>
            <a:pPr algn="l" marL="1187449" indent="-593725" lvl="1">
              <a:lnSpc>
                <a:spcPts val="5499"/>
              </a:lnSpc>
              <a:buFont typeface="Arial"/>
              <a:buChar char="•"/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No Missing Values </a:t>
            </a:r>
          </a:p>
          <a:p>
            <a:pPr algn="l" marL="1187449" indent="-593725" lvl="1">
              <a:lnSpc>
                <a:spcPts val="5499"/>
              </a:lnSpc>
              <a:buFont typeface="Arial"/>
              <a:buChar char="•"/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Academic background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551407" y="8525434"/>
            <a:ext cx="4736593" cy="2889322"/>
          </a:xfrm>
          <a:custGeom>
            <a:avLst/>
            <a:gdLst/>
            <a:ahLst/>
            <a:cxnLst/>
            <a:rect r="r" b="b" t="t" l="l"/>
            <a:pathLst>
              <a:path h="2889322" w="4736593">
                <a:moveTo>
                  <a:pt x="4736593" y="0"/>
                </a:moveTo>
                <a:lnTo>
                  <a:pt x="0" y="0"/>
                </a:lnTo>
                <a:lnTo>
                  <a:pt x="0" y="2889322"/>
                </a:lnTo>
                <a:lnTo>
                  <a:pt x="4736593" y="2889322"/>
                </a:lnTo>
                <a:lnTo>
                  <a:pt x="473659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1598042" y="-2181080"/>
            <a:ext cx="9367640" cy="5714260"/>
          </a:xfrm>
          <a:custGeom>
            <a:avLst/>
            <a:gdLst/>
            <a:ahLst/>
            <a:cxnLst/>
            <a:rect r="r" b="b" t="t" l="l"/>
            <a:pathLst>
              <a:path h="5714260" w="9367640">
                <a:moveTo>
                  <a:pt x="0" y="5714260"/>
                </a:moveTo>
                <a:lnTo>
                  <a:pt x="9367639" y="5714260"/>
                </a:lnTo>
                <a:lnTo>
                  <a:pt x="9367639" y="0"/>
                </a:lnTo>
                <a:lnTo>
                  <a:pt x="0" y="0"/>
                </a:lnTo>
                <a:lnTo>
                  <a:pt x="0" y="5714260"/>
                </a:lnTo>
                <a:close/>
              </a:path>
            </a:pathLst>
          </a:custGeom>
          <a:blipFill>
            <a:blip r:embed="rId2">
              <a:alphaModFix amt="6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623229" y="866550"/>
            <a:ext cx="7041542" cy="133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SCALAR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50626" y="2649726"/>
            <a:ext cx="10596352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A scalar is a single numerical value</a:t>
            </a:r>
          </a:p>
          <a:p>
            <a:pPr algn="l">
              <a:lnSpc>
                <a:spcPts val="5000"/>
              </a:lnSpc>
            </a:pPr>
            <a:r>
              <a:rPr lang="en-US" sz="5000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It represents magnitude only (no direction)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144602" y="21485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5" y="0"/>
                </a:lnTo>
                <a:lnTo>
                  <a:pt x="1796065" y="1627684"/>
                </a:lnTo>
                <a:lnTo>
                  <a:pt x="0" y="1627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493231" y="6681167"/>
            <a:ext cx="2556250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CADC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Examples: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CADC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5, -3, 2.7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46845" y="4474672"/>
            <a:ext cx="5157341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49C3FB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AI Connection: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12895" y="5909772"/>
            <a:ext cx="7092634" cy="1404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6"/>
              </a:lnSpc>
            </a:pPr>
            <a:r>
              <a:rPr lang="en-US" sz="4032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Represents</a:t>
            </a:r>
            <a:r>
              <a:rPr lang="en-US" sz="4032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a single feature value</a:t>
            </a:r>
          </a:p>
          <a:p>
            <a:pPr algn="l">
              <a:lnSpc>
                <a:spcPts val="5646"/>
              </a:lnSpc>
            </a:pPr>
            <a:r>
              <a:rPr lang="en-US" sz="4032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Used as weights and bias in AI models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-1495989" y="8348688"/>
            <a:ext cx="4736593" cy="2889322"/>
          </a:xfrm>
          <a:custGeom>
            <a:avLst/>
            <a:gdLst/>
            <a:ahLst/>
            <a:cxnLst/>
            <a:rect r="r" b="b" t="t" l="l"/>
            <a:pathLst>
              <a:path h="2889322" w="4736593">
                <a:moveTo>
                  <a:pt x="4736593" y="0"/>
                </a:moveTo>
                <a:lnTo>
                  <a:pt x="0" y="0"/>
                </a:lnTo>
                <a:lnTo>
                  <a:pt x="0" y="2889321"/>
                </a:lnTo>
                <a:lnTo>
                  <a:pt x="4736593" y="2889321"/>
                </a:lnTo>
                <a:lnTo>
                  <a:pt x="473659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54390" y="9258300"/>
            <a:ext cx="2172024" cy="855235"/>
          </a:xfrm>
          <a:custGeom>
            <a:avLst/>
            <a:gdLst/>
            <a:ahLst/>
            <a:cxnLst/>
            <a:rect r="r" b="b" t="t" l="l"/>
            <a:pathLst>
              <a:path h="855235" w="2172024">
                <a:moveTo>
                  <a:pt x="0" y="0"/>
                </a:moveTo>
                <a:lnTo>
                  <a:pt x="2172025" y="0"/>
                </a:lnTo>
                <a:lnTo>
                  <a:pt x="2172025" y="855235"/>
                </a:lnTo>
                <a:lnTo>
                  <a:pt x="0" y="855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1339597" y="-589411"/>
            <a:ext cx="4736593" cy="2889322"/>
          </a:xfrm>
          <a:custGeom>
            <a:avLst/>
            <a:gdLst/>
            <a:ahLst/>
            <a:cxnLst/>
            <a:rect r="r" b="b" t="t" l="l"/>
            <a:pathLst>
              <a:path h="2889322" w="4736593">
                <a:moveTo>
                  <a:pt x="0" y="2889321"/>
                </a:moveTo>
                <a:lnTo>
                  <a:pt x="4736594" y="2889321"/>
                </a:lnTo>
                <a:lnTo>
                  <a:pt x="4736594" y="0"/>
                </a:lnTo>
                <a:lnTo>
                  <a:pt x="0" y="0"/>
                </a:lnTo>
                <a:lnTo>
                  <a:pt x="0" y="288932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10816" y="645927"/>
            <a:ext cx="8519822" cy="133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VECTOR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144602" y="21485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5" y="0"/>
                </a:lnTo>
                <a:lnTo>
                  <a:pt x="1796065" y="1627684"/>
                </a:lnTo>
                <a:lnTo>
                  <a:pt x="0" y="1627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772619" y="2214185"/>
            <a:ext cx="8519822" cy="180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A vector is an ordered list of numbers</a:t>
            </a:r>
          </a:p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It represents magnitude and direction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562346" y="6394162"/>
            <a:ext cx="2960577" cy="173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00CADC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Example:</a:t>
            </a:r>
          </a:p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00CADC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[2, 4, 6]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65329" y="4286250"/>
            <a:ext cx="5157341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49C3FB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AI Connection: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14996" y="6076950"/>
            <a:ext cx="7381039" cy="208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Represents one </a:t>
            </a:r>
            <a:r>
              <a:rPr lang="en-US" sz="39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data sample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• Each value = one feature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• Used as input to machine learning models</a:t>
            </a:r>
          </a:p>
        </p:txBody>
      </p:sp>
      <p:sp>
        <p:nvSpPr>
          <p:cNvPr name="Freeform 10" id="10"/>
          <p:cNvSpPr/>
          <p:nvPr/>
        </p:nvSpPr>
        <p:spPr>
          <a:xfrm flipH="false" flipV="true" rot="0">
            <a:off x="-1916527" y="7159625"/>
            <a:ext cx="9367640" cy="5714260"/>
          </a:xfrm>
          <a:custGeom>
            <a:avLst/>
            <a:gdLst/>
            <a:ahLst/>
            <a:cxnLst/>
            <a:rect r="r" b="b" t="t" l="l"/>
            <a:pathLst>
              <a:path h="5714260" w="9367640">
                <a:moveTo>
                  <a:pt x="0" y="5714260"/>
                </a:moveTo>
                <a:lnTo>
                  <a:pt x="9367639" y="5714260"/>
                </a:lnTo>
                <a:lnTo>
                  <a:pt x="9367639" y="0"/>
                </a:lnTo>
                <a:lnTo>
                  <a:pt x="0" y="0"/>
                </a:lnTo>
                <a:lnTo>
                  <a:pt x="0" y="5714260"/>
                </a:lnTo>
                <a:close/>
              </a:path>
            </a:pathLst>
          </a:custGeom>
          <a:blipFill>
            <a:blip r:embed="rId4">
              <a:alphaModFix amt="6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68769" y="1106025"/>
            <a:ext cx="9879104" cy="133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MATRIX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0" y="-567181"/>
            <a:ext cx="5786450" cy="3529734"/>
          </a:xfrm>
          <a:custGeom>
            <a:avLst/>
            <a:gdLst/>
            <a:ahLst/>
            <a:cxnLst/>
            <a:rect r="r" b="b" t="t" l="l"/>
            <a:pathLst>
              <a:path h="3529734" w="5786450">
                <a:moveTo>
                  <a:pt x="0" y="3529735"/>
                </a:moveTo>
                <a:lnTo>
                  <a:pt x="5786450" y="3529735"/>
                </a:lnTo>
                <a:lnTo>
                  <a:pt x="5786450" y="0"/>
                </a:lnTo>
                <a:lnTo>
                  <a:pt x="0" y="0"/>
                </a:lnTo>
                <a:lnTo>
                  <a:pt x="0" y="35297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56622" y="9135765"/>
            <a:ext cx="2172024" cy="855235"/>
          </a:xfrm>
          <a:custGeom>
            <a:avLst/>
            <a:gdLst/>
            <a:ahLst/>
            <a:cxnLst/>
            <a:rect r="r" b="b" t="t" l="l"/>
            <a:pathLst>
              <a:path h="855235" w="2172024">
                <a:moveTo>
                  <a:pt x="0" y="0"/>
                </a:moveTo>
                <a:lnTo>
                  <a:pt x="2172025" y="0"/>
                </a:lnTo>
                <a:lnTo>
                  <a:pt x="2172025" y="855235"/>
                </a:lnTo>
                <a:lnTo>
                  <a:pt x="0" y="855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03596" y="2550649"/>
            <a:ext cx="8144277" cy="264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51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A matrix is a 2D array of numbers arranged in rows and columns</a:t>
            </a:r>
          </a:p>
          <a:p>
            <a:pPr algn="l">
              <a:lnSpc>
                <a:spcPts val="5199"/>
              </a:lnSpc>
            </a:pPr>
            <a:r>
              <a:rPr lang="en-US" sz="51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• Rows represent samples</a:t>
            </a:r>
          </a:p>
          <a:p>
            <a:pPr algn="l">
              <a:lnSpc>
                <a:spcPts val="5199"/>
              </a:lnSpc>
              <a:spcBef>
                <a:spcPct val="0"/>
              </a:spcBef>
            </a:pPr>
            <a:r>
              <a:rPr lang="en-US" sz="51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• Columns represent features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144602" y="21485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5" y="0"/>
                </a:lnTo>
                <a:lnTo>
                  <a:pt x="1796065" y="1627684"/>
                </a:lnTo>
                <a:lnTo>
                  <a:pt x="0" y="1627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080981" y="5260870"/>
            <a:ext cx="5157341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49C3FB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AI Connection: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40571" y="6727720"/>
            <a:ext cx="8055554" cy="208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A matrix represents the entire dataset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 Used as input for machine learning models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 Shape (rows, columns) is critical during training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66628" y="6193588"/>
            <a:ext cx="4056615" cy="279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CADC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Example: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CADC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[170, 65, 22]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CADC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[180, 70, 25]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CADC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[160, 55, 20]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2029907" y="-664134"/>
            <a:ext cx="6258093" cy="3817437"/>
          </a:xfrm>
          <a:custGeom>
            <a:avLst/>
            <a:gdLst/>
            <a:ahLst/>
            <a:cxnLst/>
            <a:rect r="r" b="b" t="t" l="l"/>
            <a:pathLst>
              <a:path h="3817437" w="6258093">
                <a:moveTo>
                  <a:pt x="6258093" y="3817437"/>
                </a:moveTo>
                <a:lnTo>
                  <a:pt x="0" y="3817437"/>
                </a:lnTo>
                <a:lnTo>
                  <a:pt x="0" y="0"/>
                </a:lnTo>
                <a:lnTo>
                  <a:pt x="6258093" y="0"/>
                </a:lnTo>
                <a:lnTo>
                  <a:pt x="6258093" y="381743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54867" y="1219200"/>
            <a:ext cx="8267357" cy="259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TENSOR</a:t>
            </a:r>
          </a:p>
          <a:p>
            <a:pPr algn="ctr">
              <a:lnSpc>
                <a:spcPts val="999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511193" y="2825433"/>
            <a:ext cx="10136503" cy="1332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51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A tensor is a multi-dimensional array</a:t>
            </a:r>
          </a:p>
          <a:p>
            <a:pPr algn="l">
              <a:lnSpc>
                <a:spcPts val="5199"/>
              </a:lnSpc>
              <a:spcBef>
                <a:spcPct val="0"/>
              </a:spcBef>
            </a:pPr>
            <a:r>
              <a:rPr lang="en-US" sz="51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Generalization of scalars, vectors, and matrices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636267" y="9019761"/>
            <a:ext cx="2304400" cy="907357"/>
          </a:xfrm>
          <a:custGeom>
            <a:avLst/>
            <a:gdLst/>
            <a:ahLst/>
            <a:cxnLst/>
            <a:rect r="r" b="b" t="t" l="l"/>
            <a:pathLst>
              <a:path h="907357" w="2304400">
                <a:moveTo>
                  <a:pt x="0" y="0"/>
                </a:moveTo>
                <a:lnTo>
                  <a:pt x="2304400" y="0"/>
                </a:lnTo>
                <a:lnTo>
                  <a:pt x="2304400" y="907357"/>
                </a:lnTo>
                <a:lnTo>
                  <a:pt x="0" y="9073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44602" y="21485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5" y="0"/>
                </a:lnTo>
                <a:lnTo>
                  <a:pt x="1796065" y="1627684"/>
                </a:lnTo>
                <a:lnTo>
                  <a:pt x="0" y="1627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-1704244" y="7880344"/>
            <a:ext cx="6258093" cy="3817437"/>
          </a:xfrm>
          <a:custGeom>
            <a:avLst/>
            <a:gdLst/>
            <a:ahLst/>
            <a:cxnLst/>
            <a:rect r="r" b="b" t="t" l="l"/>
            <a:pathLst>
              <a:path h="3817437" w="6258093">
                <a:moveTo>
                  <a:pt x="6258093" y="3817436"/>
                </a:moveTo>
                <a:lnTo>
                  <a:pt x="0" y="3817436"/>
                </a:lnTo>
                <a:lnTo>
                  <a:pt x="0" y="0"/>
                </a:lnTo>
                <a:lnTo>
                  <a:pt x="6258093" y="0"/>
                </a:lnTo>
                <a:lnTo>
                  <a:pt x="6258093" y="381743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280142" y="4574328"/>
            <a:ext cx="8986412" cy="3346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41"/>
              </a:lnSpc>
            </a:pPr>
            <a:r>
              <a:rPr lang="en-US" sz="8743">
                <a:solidFill>
                  <a:srgbClr val="49C3FB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AI Connection:</a:t>
            </a:r>
          </a:p>
          <a:p>
            <a:pPr algn="ctr">
              <a:lnSpc>
                <a:spcPts val="7072"/>
              </a:lnSpc>
            </a:pPr>
          </a:p>
          <a:p>
            <a:pPr algn="ctr">
              <a:lnSpc>
                <a:spcPts val="7072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908500" y="6368366"/>
            <a:ext cx="8470999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Use</a:t>
            </a:r>
            <a:r>
              <a:rPr lang="en-US" sz="39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d to represent images, videos, and complex data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 Deep learning models process data as tensors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647695" y="5067300"/>
            <a:ext cx="2993814" cy="349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CADC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Examples: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CADC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Scalar → 0D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CADC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Vector → 1D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CADC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Matrix → 2D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CADC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Tensor → 3D+</a:t>
            </a:r>
          </a:p>
        </p:txBody>
      </p:sp>
      <p:sp>
        <p:nvSpPr>
          <p:cNvPr name="Freeform 11" id="11"/>
          <p:cNvSpPr/>
          <p:nvPr/>
        </p:nvSpPr>
        <p:spPr>
          <a:xfrm flipH="true" flipV="true" rot="0">
            <a:off x="-2643165" y="-383039"/>
            <a:ext cx="6258093" cy="3817437"/>
          </a:xfrm>
          <a:custGeom>
            <a:avLst/>
            <a:gdLst/>
            <a:ahLst/>
            <a:cxnLst/>
            <a:rect r="r" b="b" t="t" l="l"/>
            <a:pathLst>
              <a:path h="3817437" w="6258093">
                <a:moveTo>
                  <a:pt x="6258093" y="3817437"/>
                </a:moveTo>
                <a:lnTo>
                  <a:pt x="0" y="3817437"/>
                </a:lnTo>
                <a:lnTo>
                  <a:pt x="0" y="0"/>
                </a:lnTo>
                <a:lnTo>
                  <a:pt x="6258093" y="0"/>
                </a:lnTo>
                <a:lnTo>
                  <a:pt x="6258093" y="381743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336743" y="-664134"/>
            <a:ext cx="4951257" cy="3020267"/>
          </a:xfrm>
          <a:custGeom>
            <a:avLst/>
            <a:gdLst/>
            <a:ahLst/>
            <a:cxnLst/>
            <a:rect r="r" b="b" t="t" l="l"/>
            <a:pathLst>
              <a:path h="3020267" w="4951257">
                <a:moveTo>
                  <a:pt x="4951257" y="3020267"/>
                </a:moveTo>
                <a:lnTo>
                  <a:pt x="0" y="3020267"/>
                </a:lnTo>
                <a:lnTo>
                  <a:pt x="0" y="0"/>
                </a:lnTo>
                <a:lnTo>
                  <a:pt x="4951257" y="0"/>
                </a:lnTo>
                <a:lnTo>
                  <a:pt x="4951257" y="3020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44602" y="21485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5" y="0"/>
                </a:lnTo>
                <a:lnTo>
                  <a:pt x="1796065" y="1627684"/>
                </a:lnTo>
                <a:lnTo>
                  <a:pt x="0" y="1627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1336329" y="8206070"/>
            <a:ext cx="4951257" cy="3020267"/>
          </a:xfrm>
          <a:custGeom>
            <a:avLst/>
            <a:gdLst/>
            <a:ahLst/>
            <a:cxnLst/>
            <a:rect r="r" b="b" t="t" l="l"/>
            <a:pathLst>
              <a:path h="3020267" w="4951257">
                <a:moveTo>
                  <a:pt x="4951257" y="3020267"/>
                </a:moveTo>
                <a:lnTo>
                  <a:pt x="0" y="3020267"/>
                </a:lnTo>
                <a:lnTo>
                  <a:pt x="0" y="0"/>
                </a:lnTo>
                <a:lnTo>
                  <a:pt x="4951257" y="0"/>
                </a:lnTo>
                <a:lnTo>
                  <a:pt x="4951257" y="3020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36267" y="9019761"/>
            <a:ext cx="2304400" cy="907357"/>
          </a:xfrm>
          <a:custGeom>
            <a:avLst/>
            <a:gdLst/>
            <a:ahLst/>
            <a:cxnLst/>
            <a:rect r="r" b="b" t="t" l="l"/>
            <a:pathLst>
              <a:path h="907357" w="2304400">
                <a:moveTo>
                  <a:pt x="0" y="0"/>
                </a:moveTo>
                <a:lnTo>
                  <a:pt x="2304400" y="0"/>
                </a:lnTo>
                <a:lnTo>
                  <a:pt x="2304400" y="907357"/>
                </a:lnTo>
                <a:lnTo>
                  <a:pt x="0" y="9073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1782208" y="0"/>
            <a:ext cx="4951257" cy="3020267"/>
          </a:xfrm>
          <a:custGeom>
            <a:avLst/>
            <a:gdLst/>
            <a:ahLst/>
            <a:cxnLst/>
            <a:rect r="r" b="b" t="t" l="l"/>
            <a:pathLst>
              <a:path h="3020267" w="4951257">
                <a:moveTo>
                  <a:pt x="4951257" y="3020267"/>
                </a:moveTo>
                <a:lnTo>
                  <a:pt x="0" y="3020267"/>
                </a:lnTo>
                <a:lnTo>
                  <a:pt x="0" y="0"/>
                </a:lnTo>
                <a:lnTo>
                  <a:pt x="4951257" y="0"/>
                </a:lnTo>
                <a:lnTo>
                  <a:pt x="4951257" y="3020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974094" y="5076825"/>
            <a:ext cx="7676555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CADC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Example: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CADC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Dataset shape = (150, 4)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CADC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150 samples, 4 features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751661" y="5652135"/>
            <a:ext cx="5157341" cy="343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49C3FB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AI Connection:</a:t>
            </a:r>
          </a:p>
          <a:p>
            <a:pPr algn="ctr">
              <a:lnSpc>
                <a:spcPts val="7279"/>
              </a:lnSpc>
            </a:pPr>
          </a:p>
          <a:p>
            <a:pPr algn="ctr">
              <a:lnSpc>
                <a:spcPts val="727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668547" y="7627054"/>
            <a:ext cx="8668196" cy="208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Machine learning models expect specific input shapes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Wrong shape leads to training errors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 Shape determines how data flows inside the model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47665" y="388987"/>
            <a:ext cx="1159266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Shape</a:t>
            </a:r>
            <a:r>
              <a:rPr lang="en-US" b="true" sz="9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&amp; Dimensions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4091922" y="1975604"/>
            <a:ext cx="8795105" cy="457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Shape </a:t>
            </a:r>
            <a:r>
              <a:rPr lang="en-US" sz="51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describes the size of a matrix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Written as (rows, columns)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Rows = number of samples</a:t>
            </a:r>
          </a:p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Columns = number of features</a:t>
            </a:r>
          </a:p>
          <a:p>
            <a:pPr algn="l">
              <a:lnSpc>
                <a:spcPts val="727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2315255" y="-364037"/>
            <a:ext cx="6132670" cy="3740929"/>
          </a:xfrm>
          <a:custGeom>
            <a:avLst/>
            <a:gdLst/>
            <a:ahLst/>
            <a:cxnLst/>
            <a:rect r="r" b="b" t="t" l="l"/>
            <a:pathLst>
              <a:path h="3740929" w="6132670">
                <a:moveTo>
                  <a:pt x="6132670" y="3740929"/>
                </a:moveTo>
                <a:lnTo>
                  <a:pt x="0" y="3740929"/>
                </a:lnTo>
                <a:lnTo>
                  <a:pt x="0" y="0"/>
                </a:lnTo>
                <a:lnTo>
                  <a:pt x="6132670" y="0"/>
                </a:lnTo>
                <a:lnTo>
                  <a:pt x="6132670" y="37409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636267" y="9019761"/>
            <a:ext cx="2304400" cy="907357"/>
          </a:xfrm>
          <a:custGeom>
            <a:avLst/>
            <a:gdLst/>
            <a:ahLst/>
            <a:cxnLst/>
            <a:rect r="r" b="b" t="t" l="l"/>
            <a:pathLst>
              <a:path h="907357" w="2304400">
                <a:moveTo>
                  <a:pt x="0" y="0"/>
                </a:moveTo>
                <a:lnTo>
                  <a:pt x="2304400" y="0"/>
                </a:lnTo>
                <a:lnTo>
                  <a:pt x="2304400" y="907357"/>
                </a:lnTo>
                <a:lnTo>
                  <a:pt x="0" y="9073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44602" y="21485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5" y="0"/>
                </a:lnTo>
                <a:lnTo>
                  <a:pt x="1796065" y="1627684"/>
                </a:lnTo>
                <a:lnTo>
                  <a:pt x="0" y="1627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46379" y="950531"/>
            <a:ext cx="12841687" cy="133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PROPOSED PROCESS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17415" y="2579744"/>
            <a:ext cx="13439297" cy="420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87449" indent="-593725" lvl="1">
              <a:lnSpc>
                <a:spcPts val="5499"/>
              </a:lnSpc>
              <a:buAutoNum type="arabicPeriod" startAt="1"/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Load dataset using pandas.</a:t>
            </a:r>
          </a:p>
          <a:p>
            <a:pPr algn="l" marL="1187449" indent="-593725" lvl="1">
              <a:lnSpc>
                <a:spcPts val="5499"/>
              </a:lnSpc>
              <a:buAutoNum type="arabicPeriod" startAt="1"/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Convert categorical values to numeric. </a:t>
            </a:r>
          </a:p>
          <a:p>
            <a:pPr algn="l" marL="1187449" indent="-593725" lvl="1">
              <a:lnSpc>
                <a:spcPts val="5499"/>
              </a:lnSpc>
              <a:buAutoNum type="arabicPeriod" startAt="1"/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Convert DataFrame into NumPy matrix. </a:t>
            </a:r>
          </a:p>
          <a:p>
            <a:pPr algn="l" marL="1187449" indent="-593725" lvl="1">
              <a:lnSpc>
                <a:spcPts val="5499"/>
              </a:lnSpc>
              <a:buAutoNum type="arabicPeriod" startAt="1"/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Analyze matrix shape.</a:t>
            </a:r>
          </a:p>
          <a:p>
            <a:pPr algn="l" marL="1187449" indent="-593725" lvl="1">
              <a:lnSpc>
                <a:spcPts val="5499"/>
              </a:lnSpc>
              <a:buAutoNum type="arabicPeriod" startAt="1"/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Perform matrix operations.</a:t>
            </a:r>
          </a:p>
          <a:p>
            <a:pPr algn="l" marL="1187449" indent="-593725" lvl="1">
              <a:lnSpc>
                <a:spcPts val="5499"/>
              </a:lnSpc>
              <a:buAutoNum type="arabicPeriod" startAt="1"/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Train simple ML model.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69049" y="404267"/>
            <a:ext cx="12347164" cy="258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0"/>
              </a:lnSpc>
            </a:pPr>
            <a:r>
              <a:rPr lang="en-US" sz="15000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Conclusion</a:t>
            </a:r>
          </a:p>
        </p:txBody>
      </p:sp>
      <p:sp>
        <p:nvSpPr>
          <p:cNvPr name="Freeform 3" id="3"/>
          <p:cNvSpPr/>
          <p:nvPr/>
        </p:nvSpPr>
        <p:spPr>
          <a:xfrm flipH="true" flipV="true" rot="0">
            <a:off x="-1782208" y="0"/>
            <a:ext cx="4951257" cy="3020267"/>
          </a:xfrm>
          <a:custGeom>
            <a:avLst/>
            <a:gdLst/>
            <a:ahLst/>
            <a:cxnLst/>
            <a:rect r="r" b="b" t="t" l="l"/>
            <a:pathLst>
              <a:path h="3020267" w="4951257">
                <a:moveTo>
                  <a:pt x="4951257" y="3020267"/>
                </a:moveTo>
                <a:lnTo>
                  <a:pt x="0" y="3020267"/>
                </a:lnTo>
                <a:lnTo>
                  <a:pt x="0" y="0"/>
                </a:lnTo>
                <a:lnTo>
                  <a:pt x="4951257" y="0"/>
                </a:lnTo>
                <a:lnTo>
                  <a:pt x="4951257" y="3020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1205112" y="7950883"/>
            <a:ext cx="6132670" cy="3740929"/>
          </a:xfrm>
          <a:custGeom>
            <a:avLst/>
            <a:gdLst/>
            <a:ahLst/>
            <a:cxnLst/>
            <a:rect r="r" b="b" t="t" l="l"/>
            <a:pathLst>
              <a:path h="3740929" w="6132670">
                <a:moveTo>
                  <a:pt x="6132671" y="3740929"/>
                </a:moveTo>
                <a:lnTo>
                  <a:pt x="0" y="3740929"/>
                </a:lnTo>
                <a:lnTo>
                  <a:pt x="0" y="0"/>
                </a:lnTo>
                <a:lnTo>
                  <a:pt x="6132671" y="0"/>
                </a:lnTo>
                <a:lnTo>
                  <a:pt x="6132671" y="37409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13622" y="8636120"/>
            <a:ext cx="1645678" cy="647986"/>
          </a:xfrm>
          <a:custGeom>
            <a:avLst/>
            <a:gdLst/>
            <a:ahLst/>
            <a:cxnLst/>
            <a:rect r="r" b="b" t="t" l="l"/>
            <a:pathLst>
              <a:path h="647986" w="1645678">
                <a:moveTo>
                  <a:pt x="0" y="0"/>
                </a:moveTo>
                <a:lnTo>
                  <a:pt x="1645678" y="0"/>
                </a:lnTo>
                <a:lnTo>
                  <a:pt x="1645678" y="647986"/>
                </a:lnTo>
                <a:lnTo>
                  <a:pt x="0" y="6479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61268" y="21485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4" y="0"/>
                </a:lnTo>
                <a:lnTo>
                  <a:pt x="1796064" y="1627684"/>
                </a:lnTo>
                <a:lnTo>
                  <a:pt x="0" y="1627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04561" y="3926211"/>
            <a:ext cx="15492115" cy="482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AI systems require numerical data representation</a:t>
            </a:r>
          </a:p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Data in machine learning is stored as matrices</a:t>
            </a:r>
          </a:p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Understanding scalars, vectors, matrices, and tensors is essential in AI</a:t>
            </a:r>
          </a:p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Matrix shape plays a critical role in model training</a:t>
            </a:r>
          </a:p>
          <a:p>
            <a:pPr algn="l">
              <a:lnSpc>
                <a:spcPts val="769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44" t="0" r="-34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79414" y="3037589"/>
            <a:ext cx="12019094" cy="391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5000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THANK YOU</a:t>
            </a:r>
          </a:p>
          <a:p>
            <a:pPr algn="ctr">
              <a:lnSpc>
                <a:spcPts val="1500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144602" y="21485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5" y="0"/>
                </a:lnTo>
                <a:lnTo>
                  <a:pt x="1796065" y="1627684"/>
                </a:lnTo>
                <a:lnTo>
                  <a:pt x="0" y="16276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DAHCnj_uDN8</dc:identifier>
  <dcterms:modified xsi:type="dcterms:W3CDTF">2011-08-01T06:04:30Z</dcterms:modified>
  <cp:revision>1</cp:revision>
  <dc:title>Data Representation in Artificial Intelligence Using NumPy &amp; Matrices</dc:title>
</cp:coreProperties>
</file>