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a Hamah Homs" charset="1" panose="00000500000000000000"/>
      <p:regular r:id="rId17"/>
    </p:embeddedFont>
    <p:embeddedFont>
      <p:font typeface="Canva Sans Bold" charset="1" panose="020B0803030501040103"/>
      <p:regular r:id="rId18"/>
    </p:embeddedFont>
    <p:embeddedFont>
      <p:font typeface="Garet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44" t="0" r="-34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1499" y="841997"/>
            <a:ext cx="12107193" cy="349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DATA REPRESENTATION IN ARTIFICIAL INTELLIGENCE</a:t>
            </a:r>
          </a:p>
          <a:p>
            <a:pPr algn="l">
              <a:lnSpc>
                <a:spcPts val="9000"/>
              </a:lnSpc>
            </a:pPr>
            <a:r>
              <a:rPr lang="en-US" sz="900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USING NUMPY &amp; MATRICES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87126" y="5070264"/>
            <a:ext cx="7230900" cy="705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1"/>
              </a:lnSpc>
              <a:spcBef>
                <a:spcPct val="0"/>
              </a:spcBef>
            </a:pPr>
            <a:r>
              <a:rPr lang="en-US" sz="5271">
                <a:solidFill>
                  <a:srgbClr val="49C3FB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L</a:t>
            </a:r>
            <a:r>
              <a:rPr lang="en-US" sz="5271">
                <a:solidFill>
                  <a:srgbClr val="49C3FB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inear Algebra &amp; Statistics in AI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361268" y="32632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4" y="0"/>
                </a:lnTo>
                <a:lnTo>
                  <a:pt x="1796064" y="1627683"/>
                </a:lnTo>
                <a:lnTo>
                  <a:pt x="0" y="16276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2681" y="6825434"/>
            <a:ext cx="2850901" cy="3241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3575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Te</a:t>
            </a:r>
            <a:r>
              <a:rPr lang="en-US" sz="3575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am Members</a:t>
            </a:r>
          </a:p>
          <a:p>
            <a:pPr algn="l">
              <a:lnSpc>
                <a:spcPts val="4150"/>
              </a:lnSpc>
            </a:pPr>
            <a:r>
              <a:rPr lang="en-US" sz="2964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Mohammed Alburaq</a:t>
            </a:r>
          </a:p>
          <a:p>
            <a:pPr algn="l">
              <a:lnSpc>
                <a:spcPts val="4150"/>
              </a:lnSpc>
            </a:pPr>
            <a:r>
              <a:rPr lang="en-US" sz="2964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Ahmed Alshimshir </a:t>
            </a:r>
          </a:p>
          <a:p>
            <a:pPr algn="l">
              <a:lnSpc>
                <a:spcPts val="4150"/>
              </a:lnSpc>
            </a:pPr>
            <a:r>
              <a:rPr lang="en-US" sz="2964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Fahad Alghofaili </a:t>
            </a:r>
          </a:p>
          <a:p>
            <a:pPr algn="l">
              <a:lnSpc>
                <a:spcPts val="4150"/>
              </a:lnSpc>
            </a:pPr>
            <a:r>
              <a:rPr lang="en-US" sz="2964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Mansour Alhenaki </a:t>
            </a:r>
          </a:p>
          <a:p>
            <a:pPr algn="l">
              <a:lnSpc>
                <a:spcPts val="415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168096" y="8734425"/>
            <a:ext cx="286896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Tuwaiq Academy - 2026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-167148"/>
            <a:ext cx="5403240" cy="3295976"/>
          </a:xfrm>
          <a:custGeom>
            <a:avLst/>
            <a:gdLst/>
            <a:ahLst/>
            <a:cxnLst/>
            <a:rect r="r" b="b" t="t" l="l"/>
            <a:pathLst>
              <a:path h="3295976" w="5403240">
                <a:moveTo>
                  <a:pt x="0" y="3295976"/>
                </a:moveTo>
                <a:lnTo>
                  <a:pt x="5403240" y="3295976"/>
                </a:lnTo>
                <a:lnTo>
                  <a:pt x="5403240" y="0"/>
                </a:lnTo>
                <a:lnTo>
                  <a:pt x="0" y="0"/>
                </a:lnTo>
                <a:lnTo>
                  <a:pt x="0" y="32959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44678" y="465681"/>
            <a:ext cx="8563868" cy="1860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0"/>
              </a:lnSpc>
            </a:pPr>
            <a:r>
              <a:rPr lang="en-US" sz="1400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INTRODUCTION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491935" y="0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3"/>
                </a:lnTo>
                <a:lnTo>
                  <a:pt x="0" y="16276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2398434"/>
            <a:ext cx="18288000" cy="359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Artificial Intelligence relies on mathematical data representation</a:t>
            </a:r>
          </a:p>
          <a:p>
            <a:pPr algn="ctr">
              <a:lnSpc>
                <a:spcPts val="7279"/>
              </a:lnSpc>
            </a:pP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047102" y="4352964"/>
            <a:ext cx="9144000" cy="264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4"/>
              </a:lnSpc>
            </a:pPr>
            <a:r>
              <a:rPr lang="en-US" sz="3774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In</a:t>
            </a:r>
            <a:r>
              <a:rPr lang="en-US" sz="3774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Machine Learning, datasets are represented as matrices.</a:t>
            </a:r>
          </a:p>
          <a:p>
            <a:pPr algn="l" marL="815022" indent="-407511" lvl="1">
              <a:lnSpc>
                <a:spcPts val="5284"/>
              </a:lnSpc>
              <a:buFont typeface="Arial"/>
              <a:buChar char="•"/>
            </a:pPr>
            <a:r>
              <a:rPr lang="en-US" sz="3774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Rows = Samples</a:t>
            </a:r>
          </a:p>
          <a:p>
            <a:pPr algn="l" marL="815022" indent="-407511" lvl="1">
              <a:lnSpc>
                <a:spcPts val="5284"/>
              </a:lnSpc>
              <a:buFont typeface="Arial"/>
              <a:buChar char="•"/>
            </a:pPr>
            <a:r>
              <a:rPr lang="en-US" sz="3774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Columns = Features</a:t>
            </a:r>
          </a:p>
          <a:p>
            <a:pPr algn="l">
              <a:lnSpc>
                <a:spcPts val="528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74587" y="6793269"/>
            <a:ext cx="18288000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Libraries such as NumPy an</a:t>
            </a:r>
            <a:r>
              <a:rPr lang="en-US" sz="3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d Pandas help convert raw data into numerical structures.</a:t>
            </a:r>
          </a:p>
          <a:p>
            <a:pPr algn="ctr">
              <a:lnSpc>
                <a:spcPts val="559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370126" y="-841764"/>
            <a:ext cx="6132670" cy="3740929"/>
          </a:xfrm>
          <a:custGeom>
            <a:avLst/>
            <a:gdLst/>
            <a:ahLst/>
            <a:cxnLst/>
            <a:rect r="r" b="b" t="t" l="l"/>
            <a:pathLst>
              <a:path h="3740929" w="6132670">
                <a:moveTo>
                  <a:pt x="6132670" y="3740928"/>
                </a:moveTo>
                <a:lnTo>
                  <a:pt x="0" y="3740928"/>
                </a:lnTo>
                <a:lnTo>
                  <a:pt x="0" y="0"/>
                </a:lnTo>
                <a:lnTo>
                  <a:pt x="6132670" y="0"/>
                </a:lnTo>
                <a:lnTo>
                  <a:pt x="6132670" y="37409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13622" y="8636120"/>
            <a:ext cx="1645678" cy="647986"/>
          </a:xfrm>
          <a:custGeom>
            <a:avLst/>
            <a:gdLst/>
            <a:ahLst/>
            <a:cxnLst/>
            <a:rect r="r" b="b" t="t" l="l"/>
            <a:pathLst>
              <a:path h="647986" w="1645678">
                <a:moveTo>
                  <a:pt x="0" y="0"/>
                </a:moveTo>
                <a:lnTo>
                  <a:pt x="1645678" y="0"/>
                </a:lnTo>
                <a:lnTo>
                  <a:pt x="1645678" y="647986"/>
                </a:lnTo>
                <a:lnTo>
                  <a:pt x="0" y="647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46379" y="950531"/>
            <a:ext cx="12841687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DATA REPRESENTATION IN AI</a:t>
            </a:r>
          </a:p>
          <a:p>
            <a:pPr algn="ctr">
              <a:lnSpc>
                <a:spcPts val="999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424351" y="3003800"/>
            <a:ext cx="13439297" cy="281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AI models cannot understand raw text or images directly</a:t>
            </a:r>
          </a:p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 Data must be converted into numerical form</a:t>
            </a:r>
          </a:p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Scalars, vectors, matrices, and tensors represent data in AI</a:t>
            </a:r>
          </a:p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 Proper data shape is essential for model training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-2037635" y="7561859"/>
            <a:ext cx="6132670" cy="3740929"/>
          </a:xfrm>
          <a:custGeom>
            <a:avLst/>
            <a:gdLst/>
            <a:ahLst/>
            <a:cxnLst/>
            <a:rect r="r" b="b" t="t" l="l"/>
            <a:pathLst>
              <a:path h="3740929" w="6132670">
                <a:moveTo>
                  <a:pt x="6132670" y="3740928"/>
                </a:moveTo>
                <a:lnTo>
                  <a:pt x="0" y="3740928"/>
                </a:lnTo>
                <a:lnTo>
                  <a:pt x="0" y="0"/>
                </a:lnTo>
                <a:lnTo>
                  <a:pt x="6132670" y="0"/>
                </a:lnTo>
                <a:lnTo>
                  <a:pt x="6132670" y="37409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2499438" y="7896268"/>
            <a:ext cx="6132670" cy="3740929"/>
          </a:xfrm>
          <a:custGeom>
            <a:avLst/>
            <a:gdLst/>
            <a:ahLst/>
            <a:cxnLst/>
            <a:rect r="r" b="b" t="t" l="l"/>
            <a:pathLst>
              <a:path h="3740929" w="6132670">
                <a:moveTo>
                  <a:pt x="6132670" y="3740929"/>
                </a:moveTo>
                <a:lnTo>
                  <a:pt x="0" y="3740929"/>
                </a:lnTo>
                <a:lnTo>
                  <a:pt x="0" y="0"/>
                </a:lnTo>
                <a:lnTo>
                  <a:pt x="6132670" y="0"/>
                </a:lnTo>
                <a:lnTo>
                  <a:pt x="6132670" y="37409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505663" y="-425270"/>
            <a:ext cx="6132670" cy="3740929"/>
          </a:xfrm>
          <a:custGeom>
            <a:avLst/>
            <a:gdLst/>
            <a:ahLst/>
            <a:cxnLst/>
            <a:rect r="r" b="b" t="t" l="l"/>
            <a:pathLst>
              <a:path h="3740929" w="6132670">
                <a:moveTo>
                  <a:pt x="6132670" y="3740929"/>
                </a:moveTo>
                <a:lnTo>
                  <a:pt x="0" y="3740929"/>
                </a:lnTo>
                <a:lnTo>
                  <a:pt x="0" y="0"/>
                </a:lnTo>
                <a:lnTo>
                  <a:pt x="6132670" y="0"/>
                </a:lnTo>
                <a:lnTo>
                  <a:pt x="6132670" y="37409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68410" y="8795363"/>
            <a:ext cx="1645678" cy="647986"/>
          </a:xfrm>
          <a:custGeom>
            <a:avLst/>
            <a:gdLst/>
            <a:ahLst/>
            <a:cxnLst/>
            <a:rect r="r" b="b" t="t" l="l"/>
            <a:pathLst>
              <a:path h="647986" w="1645678">
                <a:moveTo>
                  <a:pt x="0" y="0"/>
                </a:moveTo>
                <a:lnTo>
                  <a:pt x="1645678" y="0"/>
                </a:lnTo>
                <a:lnTo>
                  <a:pt x="1645678" y="647985"/>
                </a:lnTo>
                <a:lnTo>
                  <a:pt x="0" y="6479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46379" y="950531"/>
            <a:ext cx="12841687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DATA SET</a:t>
            </a:r>
          </a:p>
          <a:p>
            <a:pPr algn="ctr">
              <a:lnSpc>
                <a:spcPts val="99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705305" y="2817430"/>
            <a:ext cx="13439297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Students' Academic Performance Dataset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05305" y="3652455"/>
            <a:ext cx="13439297" cy="351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Real world data set from kaggle</a:t>
            </a:r>
          </a:p>
          <a:p>
            <a:pPr algn="l" marL="1187449" indent="-593725" lvl="1">
              <a:lnSpc>
                <a:spcPts val="5499"/>
              </a:lnSpc>
              <a:buFont typeface="Arial"/>
              <a:buChar char="•"/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Number of Instances: 480</a:t>
            </a:r>
          </a:p>
          <a:p>
            <a:pPr algn="l" marL="1187449" indent="-593725" lvl="1">
              <a:lnSpc>
                <a:spcPts val="5499"/>
              </a:lnSpc>
              <a:buFont typeface="Arial"/>
              <a:buChar char="•"/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 Number of Attributes: 16 </a:t>
            </a:r>
          </a:p>
          <a:p>
            <a:pPr algn="l" marL="1187449" indent="-593725" lvl="1">
              <a:lnSpc>
                <a:spcPts val="5499"/>
              </a:lnSpc>
              <a:buFont typeface="Arial"/>
              <a:buChar char="•"/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No Missing Values </a:t>
            </a:r>
          </a:p>
          <a:p>
            <a:pPr algn="l" marL="1187449" indent="-593725" lvl="1">
              <a:lnSpc>
                <a:spcPts val="5499"/>
              </a:lnSpc>
              <a:buFont typeface="Arial"/>
              <a:buChar char="•"/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Academic background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551407" y="8525434"/>
            <a:ext cx="4736593" cy="2889322"/>
          </a:xfrm>
          <a:custGeom>
            <a:avLst/>
            <a:gdLst/>
            <a:ahLst/>
            <a:cxnLst/>
            <a:rect r="r" b="b" t="t" l="l"/>
            <a:pathLst>
              <a:path h="2889322" w="4736593">
                <a:moveTo>
                  <a:pt x="4736593" y="0"/>
                </a:moveTo>
                <a:lnTo>
                  <a:pt x="0" y="0"/>
                </a:lnTo>
                <a:lnTo>
                  <a:pt x="0" y="2889322"/>
                </a:lnTo>
                <a:lnTo>
                  <a:pt x="4736593" y="2889322"/>
                </a:lnTo>
                <a:lnTo>
                  <a:pt x="47365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598042" y="-2181080"/>
            <a:ext cx="9367640" cy="5714260"/>
          </a:xfrm>
          <a:custGeom>
            <a:avLst/>
            <a:gdLst/>
            <a:ahLst/>
            <a:cxnLst/>
            <a:rect r="r" b="b" t="t" l="l"/>
            <a:pathLst>
              <a:path h="5714260" w="9367640">
                <a:moveTo>
                  <a:pt x="0" y="5714260"/>
                </a:moveTo>
                <a:lnTo>
                  <a:pt x="9367639" y="5714260"/>
                </a:lnTo>
                <a:lnTo>
                  <a:pt x="9367639" y="0"/>
                </a:lnTo>
                <a:lnTo>
                  <a:pt x="0" y="0"/>
                </a:lnTo>
                <a:lnTo>
                  <a:pt x="0" y="5714260"/>
                </a:lnTo>
                <a:close/>
              </a:path>
            </a:pathLst>
          </a:custGeom>
          <a:blipFill>
            <a:blip r:embed="rId2">
              <a:alphaModFix amt="6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495989" y="8348688"/>
            <a:ext cx="4736593" cy="2889322"/>
          </a:xfrm>
          <a:custGeom>
            <a:avLst/>
            <a:gdLst/>
            <a:ahLst/>
            <a:cxnLst/>
            <a:rect r="r" b="b" t="t" l="l"/>
            <a:pathLst>
              <a:path h="2889322" w="4736593">
                <a:moveTo>
                  <a:pt x="4736593" y="0"/>
                </a:moveTo>
                <a:lnTo>
                  <a:pt x="0" y="0"/>
                </a:lnTo>
                <a:lnTo>
                  <a:pt x="0" y="2889321"/>
                </a:lnTo>
                <a:lnTo>
                  <a:pt x="4736593" y="2889321"/>
                </a:lnTo>
                <a:lnTo>
                  <a:pt x="47365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93371" y="5472021"/>
            <a:ext cx="11663586" cy="2206682"/>
          </a:xfrm>
          <a:custGeom>
            <a:avLst/>
            <a:gdLst/>
            <a:ahLst/>
            <a:cxnLst/>
            <a:rect r="r" b="b" t="t" l="l"/>
            <a:pathLst>
              <a:path h="2206682" w="11663586">
                <a:moveTo>
                  <a:pt x="0" y="0"/>
                </a:moveTo>
                <a:lnTo>
                  <a:pt x="11663586" y="0"/>
                </a:lnTo>
                <a:lnTo>
                  <a:pt x="11663586" y="2206682"/>
                </a:lnTo>
                <a:lnTo>
                  <a:pt x="0" y="22066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95" r="0" b="-249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623229" y="866550"/>
            <a:ext cx="7041542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sz="9999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SCALAR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89444" y="3050699"/>
            <a:ext cx="10596352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A scalar is a single numerical value</a:t>
            </a:r>
          </a:p>
          <a:p>
            <a:pPr algn="l">
              <a:lnSpc>
                <a:spcPts val="50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54390" y="9258300"/>
            <a:ext cx="2172024" cy="855235"/>
          </a:xfrm>
          <a:custGeom>
            <a:avLst/>
            <a:gdLst/>
            <a:ahLst/>
            <a:cxnLst/>
            <a:rect r="r" b="b" t="t" l="l"/>
            <a:pathLst>
              <a:path h="855235" w="2172024">
                <a:moveTo>
                  <a:pt x="0" y="0"/>
                </a:moveTo>
                <a:lnTo>
                  <a:pt x="2172025" y="0"/>
                </a:lnTo>
                <a:lnTo>
                  <a:pt x="2172025" y="855235"/>
                </a:lnTo>
                <a:lnTo>
                  <a:pt x="0" y="855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339597" y="-589411"/>
            <a:ext cx="4736593" cy="2889322"/>
          </a:xfrm>
          <a:custGeom>
            <a:avLst/>
            <a:gdLst/>
            <a:ahLst/>
            <a:cxnLst/>
            <a:rect r="r" b="b" t="t" l="l"/>
            <a:pathLst>
              <a:path h="2889322" w="4736593">
                <a:moveTo>
                  <a:pt x="0" y="2889321"/>
                </a:moveTo>
                <a:lnTo>
                  <a:pt x="4736594" y="2889321"/>
                </a:lnTo>
                <a:lnTo>
                  <a:pt x="4736594" y="0"/>
                </a:lnTo>
                <a:lnTo>
                  <a:pt x="0" y="0"/>
                </a:lnTo>
                <a:lnTo>
                  <a:pt x="0" y="28893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10816" y="645927"/>
            <a:ext cx="8519822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VECTOR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02692" y="2671862"/>
            <a:ext cx="8519822" cy="87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 vector is an ordered list of numbers</a:t>
            </a: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-1916527" y="7159625"/>
            <a:ext cx="9367640" cy="5714260"/>
          </a:xfrm>
          <a:custGeom>
            <a:avLst/>
            <a:gdLst/>
            <a:ahLst/>
            <a:cxnLst/>
            <a:rect r="r" b="b" t="t" l="l"/>
            <a:pathLst>
              <a:path h="5714260" w="9367640">
                <a:moveTo>
                  <a:pt x="0" y="5714260"/>
                </a:moveTo>
                <a:lnTo>
                  <a:pt x="9367639" y="5714260"/>
                </a:lnTo>
                <a:lnTo>
                  <a:pt x="9367639" y="0"/>
                </a:lnTo>
                <a:lnTo>
                  <a:pt x="0" y="0"/>
                </a:lnTo>
                <a:lnTo>
                  <a:pt x="0" y="5714260"/>
                </a:lnTo>
                <a:close/>
              </a:path>
            </a:pathLst>
          </a:custGeom>
          <a:blipFill>
            <a:blip r:embed="rId4">
              <a:alphaModFix amt="6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67293" y="5296201"/>
            <a:ext cx="12102193" cy="795512"/>
          </a:xfrm>
          <a:custGeom>
            <a:avLst/>
            <a:gdLst/>
            <a:ahLst/>
            <a:cxnLst/>
            <a:rect r="r" b="b" t="t" l="l"/>
            <a:pathLst>
              <a:path h="795512" w="12102193">
                <a:moveTo>
                  <a:pt x="0" y="0"/>
                </a:moveTo>
                <a:lnTo>
                  <a:pt x="12102193" y="0"/>
                </a:lnTo>
                <a:lnTo>
                  <a:pt x="12102193" y="795512"/>
                </a:lnTo>
                <a:lnTo>
                  <a:pt x="0" y="7955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8358" r="0" b="-19210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68769" y="1106025"/>
            <a:ext cx="9879104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MATRIX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0" y="-567181"/>
            <a:ext cx="5786450" cy="3529734"/>
          </a:xfrm>
          <a:custGeom>
            <a:avLst/>
            <a:gdLst/>
            <a:ahLst/>
            <a:cxnLst/>
            <a:rect r="r" b="b" t="t" l="l"/>
            <a:pathLst>
              <a:path h="3529734" w="5786450">
                <a:moveTo>
                  <a:pt x="0" y="3529735"/>
                </a:moveTo>
                <a:lnTo>
                  <a:pt x="5786450" y="3529735"/>
                </a:lnTo>
                <a:lnTo>
                  <a:pt x="5786450" y="0"/>
                </a:lnTo>
                <a:lnTo>
                  <a:pt x="0" y="0"/>
                </a:lnTo>
                <a:lnTo>
                  <a:pt x="0" y="35297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56622" y="9135765"/>
            <a:ext cx="2172024" cy="855235"/>
          </a:xfrm>
          <a:custGeom>
            <a:avLst/>
            <a:gdLst/>
            <a:ahLst/>
            <a:cxnLst/>
            <a:rect r="r" b="b" t="t" l="l"/>
            <a:pathLst>
              <a:path h="855235" w="2172024">
                <a:moveTo>
                  <a:pt x="0" y="0"/>
                </a:moveTo>
                <a:lnTo>
                  <a:pt x="2172025" y="0"/>
                </a:lnTo>
                <a:lnTo>
                  <a:pt x="2172025" y="855235"/>
                </a:lnTo>
                <a:lnTo>
                  <a:pt x="0" y="855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22786" y="2639000"/>
            <a:ext cx="12721044" cy="264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51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 matrix is a 2D array of numbers arranged in rows and columns</a:t>
            </a:r>
          </a:p>
          <a:p>
            <a:pPr algn="l">
              <a:lnSpc>
                <a:spcPts val="5199"/>
              </a:lnSpc>
            </a:pPr>
            <a:r>
              <a:rPr lang="en-US" sz="51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• Rows represent samples</a:t>
            </a:r>
          </a:p>
          <a:p>
            <a:pPr algn="l">
              <a:lnSpc>
                <a:spcPts val="5199"/>
              </a:lnSpc>
              <a:spcBef>
                <a:spcPct val="0"/>
              </a:spcBef>
            </a:pPr>
            <a:r>
              <a:rPr lang="en-US" sz="51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• Columns represent features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268769" y="5967838"/>
            <a:ext cx="12273822" cy="2340171"/>
          </a:xfrm>
          <a:custGeom>
            <a:avLst/>
            <a:gdLst/>
            <a:ahLst/>
            <a:cxnLst/>
            <a:rect r="r" b="b" t="t" l="l"/>
            <a:pathLst>
              <a:path h="2340171" w="12273822">
                <a:moveTo>
                  <a:pt x="0" y="0"/>
                </a:moveTo>
                <a:lnTo>
                  <a:pt x="12273822" y="0"/>
                </a:lnTo>
                <a:lnTo>
                  <a:pt x="12273822" y="2340171"/>
                </a:lnTo>
                <a:lnTo>
                  <a:pt x="0" y="2340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51" t="0" r="-651" b="-4935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1860975" y="-3062491"/>
            <a:ext cx="7963438" cy="4857697"/>
          </a:xfrm>
          <a:custGeom>
            <a:avLst/>
            <a:gdLst/>
            <a:ahLst/>
            <a:cxnLst/>
            <a:rect r="r" b="b" t="t" l="l"/>
            <a:pathLst>
              <a:path h="4857697" w="7963438">
                <a:moveTo>
                  <a:pt x="7963438" y="4857697"/>
                </a:moveTo>
                <a:lnTo>
                  <a:pt x="0" y="4857697"/>
                </a:lnTo>
                <a:lnTo>
                  <a:pt x="0" y="0"/>
                </a:lnTo>
                <a:lnTo>
                  <a:pt x="7963438" y="0"/>
                </a:lnTo>
                <a:lnTo>
                  <a:pt x="7963438" y="485769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54867" y="1219200"/>
            <a:ext cx="8267357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TENSOR</a:t>
            </a:r>
          </a:p>
          <a:p>
            <a:pPr algn="ctr">
              <a:lnSpc>
                <a:spcPts val="99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294999" y="3537084"/>
            <a:ext cx="10136503" cy="67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9"/>
              </a:lnSpc>
              <a:spcBef>
                <a:spcPct val="0"/>
              </a:spcBef>
            </a:pPr>
            <a:r>
              <a:rPr lang="en-US" sz="51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 tensor is a multi-dimensional array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636267" y="9019761"/>
            <a:ext cx="2304400" cy="907357"/>
          </a:xfrm>
          <a:custGeom>
            <a:avLst/>
            <a:gdLst/>
            <a:ahLst/>
            <a:cxnLst/>
            <a:rect r="r" b="b" t="t" l="l"/>
            <a:pathLst>
              <a:path h="907357" w="2304400">
                <a:moveTo>
                  <a:pt x="0" y="0"/>
                </a:moveTo>
                <a:lnTo>
                  <a:pt x="2304400" y="0"/>
                </a:lnTo>
                <a:lnTo>
                  <a:pt x="2304400" y="907357"/>
                </a:lnTo>
                <a:lnTo>
                  <a:pt x="0" y="9073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-1704244" y="7880344"/>
            <a:ext cx="6258093" cy="3817437"/>
          </a:xfrm>
          <a:custGeom>
            <a:avLst/>
            <a:gdLst/>
            <a:ahLst/>
            <a:cxnLst/>
            <a:rect r="r" b="b" t="t" l="l"/>
            <a:pathLst>
              <a:path h="3817437" w="6258093">
                <a:moveTo>
                  <a:pt x="6258093" y="3817436"/>
                </a:moveTo>
                <a:lnTo>
                  <a:pt x="0" y="3817436"/>
                </a:lnTo>
                <a:lnTo>
                  <a:pt x="0" y="0"/>
                </a:lnTo>
                <a:lnTo>
                  <a:pt x="6258093" y="0"/>
                </a:lnTo>
                <a:lnTo>
                  <a:pt x="6258093" y="381743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11193" y="5144449"/>
            <a:ext cx="9920309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Use</a:t>
            </a:r>
            <a:r>
              <a:rPr lang="en-US" sz="3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d to represent images, videos, and complex data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 Deep learning models process data as tensors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946853" y="4446905"/>
            <a:ext cx="2993814" cy="349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CADC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Examples: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CADC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Scalar → 0D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CADC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Vector → 1D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CADC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Matrix → 2D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CADC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Tensor → 3D+</a:t>
            </a:r>
          </a:p>
        </p:txBody>
      </p:sp>
      <p:sp>
        <p:nvSpPr>
          <p:cNvPr name="Freeform 10" id="10"/>
          <p:cNvSpPr/>
          <p:nvPr/>
        </p:nvSpPr>
        <p:spPr>
          <a:xfrm flipH="true" flipV="true" rot="0">
            <a:off x="-2203226" y="0"/>
            <a:ext cx="6258093" cy="3817437"/>
          </a:xfrm>
          <a:custGeom>
            <a:avLst/>
            <a:gdLst/>
            <a:ahLst/>
            <a:cxnLst/>
            <a:rect r="r" b="b" t="t" l="l"/>
            <a:pathLst>
              <a:path h="3817437" w="6258093">
                <a:moveTo>
                  <a:pt x="6258093" y="3817437"/>
                </a:moveTo>
                <a:lnTo>
                  <a:pt x="0" y="3817437"/>
                </a:lnTo>
                <a:lnTo>
                  <a:pt x="0" y="0"/>
                </a:lnTo>
                <a:lnTo>
                  <a:pt x="6258093" y="0"/>
                </a:lnTo>
                <a:lnTo>
                  <a:pt x="6258093" y="381743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2315255" y="-364037"/>
            <a:ext cx="6132670" cy="3740929"/>
          </a:xfrm>
          <a:custGeom>
            <a:avLst/>
            <a:gdLst/>
            <a:ahLst/>
            <a:cxnLst/>
            <a:rect r="r" b="b" t="t" l="l"/>
            <a:pathLst>
              <a:path h="3740929" w="6132670">
                <a:moveTo>
                  <a:pt x="6132670" y="3740929"/>
                </a:moveTo>
                <a:lnTo>
                  <a:pt x="0" y="3740929"/>
                </a:lnTo>
                <a:lnTo>
                  <a:pt x="0" y="0"/>
                </a:lnTo>
                <a:lnTo>
                  <a:pt x="6132670" y="0"/>
                </a:lnTo>
                <a:lnTo>
                  <a:pt x="6132670" y="37409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36267" y="9019761"/>
            <a:ext cx="2304400" cy="907357"/>
          </a:xfrm>
          <a:custGeom>
            <a:avLst/>
            <a:gdLst/>
            <a:ahLst/>
            <a:cxnLst/>
            <a:rect r="r" b="b" t="t" l="l"/>
            <a:pathLst>
              <a:path h="907357" w="2304400">
                <a:moveTo>
                  <a:pt x="0" y="0"/>
                </a:moveTo>
                <a:lnTo>
                  <a:pt x="2304400" y="0"/>
                </a:lnTo>
                <a:lnTo>
                  <a:pt x="2304400" y="907357"/>
                </a:lnTo>
                <a:lnTo>
                  <a:pt x="0" y="9073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46379" y="950531"/>
            <a:ext cx="12841687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PROPOSED PROCESS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17415" y="2579744"/>
            <a:ext cx="13439297" cy="420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87449" indent="-593725" lvl="1">
              <a:lnSpc>
                <a:spcPts val="5499"/>
              </a:lnSpc>
              <a:buAutoNum type="arabicPeriod" startAt="1"/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Load dataset using pandas.</a:t>
            </a:r>
          </a:p>
          <a:p>
            <a:pPr algn="l" marL="1187449" indent="-593725" lvl="1">
              <a:lnSpc>
                <a:spcPts val="5499"/>
              </a:lnSpc>
              <a:buAutoNum type="arabicPeriod" startAt="1"/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Convert categorical values to numeric. </a:t>
            </a:r>
          </a:p>
          <a:p>
            <a:pPr algn="l" marL="1187449" indent="-593725" lvl="1">
              <a:lnSpc>
                <a:spcPts val="5499"/>
              </a:lnSpc>
              <a:buAutoNum type="arabicPeriod" startAt="1"/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Convert DataFrame into NumPy matrix. </a:t>
            </a:r>
          </a:p>
          <a:p>
            <a:pPr algn="l" marL="1187449" indent="-593725" lvl="1">
              <a:lnSpc>
                <a:spcPts val="5499"/>
              </a:lnSpc>
              <a:buAutoNum type="arabicPeriod" startAt="1"/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Analyze matrix shape.</a:t>
            </a:r>
          </a:p>
          <a:p>
            <a:pPr algn="l" marL="1187449" indent="-593725" lvl="1">
              <a:lnSpc>
                <a:spcPts val="5499"/>
              </a:lnSpc>
              <a:buAutoNum type="arabicPeriod" startAt="1"/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Perform matrix operations.</a:t>
            </a:r>
          </a:p>
          <a:p>
            <a:pPr algn="l" marL="1187449" indent="-593725" lvl="1">
              <a:lnSpc>
                <a:spcPts val="5499"/>
              </a:lnSpc>
              <a:buAutoNum type="arabicPeriod" startAt="1"/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Train simple ML model.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69049" y="404267"/>
            <a:ext cx="12347164" cy="258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Conclusion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0">
            <a:off x="-1782208" y="0"/>
            <a:ext cx="4951257" cy="3020267"/>
          </a:xfrm>
          <a:custGeom>
            <a:avLst/>
            <a:gdLst/>
            <a:ahLst/>
            <a:cxnLst/>
            <a:rect r="r" b="b" t="t" l="l"/>
            <a:pathLst>
              <a:path h="3020267" w="4951257">
                <a:moveTo>
                  <a:pt x="4951257" y="3020267"/>
                </a:moveTo>
                <a:lnTo>
                  <a:pt x="0" y="3020267"/>
                </a:lnTo>
                <a:lnTo>
                  <a:pt x="0" y="0"/>
                </a:lnTo>
                <a:lnTo>
                  <a:pt x="4951257" y="0"/>
                </a:lnTo>
                <a:lnTo>
                  <a:pt x="4951257" y="3020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1205112" y="7950883"/>
            <a:ext cx="6132670" cy="3740929"/>
          </a:xfrm>
          <a:custGeom>
            <a:avLst/>
            <a:gdLst/>
            <a:ahLst/>
            <a:cxnLst/>
            <a:rect r="r" b="b" t="t" l="l"/>
            <a:pathLst>
              <a:path h="3740929" w="6132670">
                <a:moveTo>
                  <a:pt x="6132671" y="3740929"/>
                </a:moveTo>
                <a:lnTo>
                  <a:pt x="0" y="3740929"/>
                </a:lnTo>
                <a:lnTo>
                  <a:pt x="0" y="0"/>
                </a:lnTo>
                <a:lnTo>
                  <a:pt x="6132671" y="0"/>
                </a:lnTo>
                <a:lnTo>
                  <a:pt x="6132671" y="37409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13622" y="8636120"/>
            <a:ext cx="1645678" cy="647986"/>
          </a:xfrm>
          <a:custGeom>
            <a:avLst/>
            <a:gdLst/>
            <a:ahLst/>
            <a:cxnLst/>
            <a:rect r="r" b="b" t="t" l="l"/>
            <a:pathLst>
              <a:path h="647986" w="1645678">
                <a:moveTo>
                  <a:pt x="0" y="0"/>
                </a:moveTo>
                <a:lnTo>
                  <a:pt x="1645678" y="0"/>
                </a:lnTo>
                <a:lnTo>
                  <a:pt x="1645678" y="647986"/>
                </a:lnTo>
                <a:lnTo>
                  <a:pt x="0" y="647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61268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4" y="0"/>
                </a:lnTo>
                <a:lnTo>
                  <a:pt x="1796064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04561" y="3926211"/>
            <a:ext cx="15492115" cy="482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AI systems require numerical data representation</a:t>
            </a:r>
          </a:p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Data in machine learning is stored as matrices</a:t>
            </a:r>
          </a:p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Understanding scalars, vectors, matrices, and tensors is essential in AI</a:t>
            </a:r>
          </a:p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Matrix shape plays a critical role in model training</a:t>
            </a:r>
          </a:p>
          <a:p>
            <a:pPr algn="l">
              <a:lnSpc>
                <a:spcPts val="769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44" t="0" r="-34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79414" y="3037589"/>
            <a:ext cx="12019094" cy="391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500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THANK YOU</a:t>
            </a:r>
          </a:p>
          <a:p>
            <a:pPr algn="ctr">
              <a:lnSpc>
                <a:spcPts val="150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DAHCnj_uDN8</dc:identifier>
  <dcterms:modified xsi:type="dcterms:W3CDTF">2011-08-01T06:04:30Z</dcterms:modified>
  <cp:revision>1</cp:revision>
  <dc:title>Data Representation in Artificial Intelligence Using NumPy &amp; Matrices</dc:title>
</cp:coreProperties>
</file>